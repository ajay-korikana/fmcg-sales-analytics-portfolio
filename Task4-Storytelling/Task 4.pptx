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5" autoAdjust="0"/>
    <p:restoredTop sz="94660"/>
  </p:normalViewPr>
  <p:slideViewPr>
    <p:cSldViewPr>
      <p:cViewPr varScale="1">
        <p:scale>
          <a:sx n="82" d="100"/>
          <a:sy n="82" d="100"/>
        </p:scale>
        <p:origin x="-16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772400" cy="2838450"/>
          </a:xfrm>
        </p:spPr>
        <p:txBody>
          <a:bodyPr>
            <a:normAutofit fontScale="90000"/>
          </a:bodyPr>
          <a:lstStyle/>
          <a:p>
            <a:r>
              <a:rPr lang="en-US" sz="5300" b="1" dirty="0" smtClean="0"/>
              <a:t>FMCG Sales Analysis 2025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Data Storytelling &amp; Statistical </a:t>
            </a:r>
            <a:r>
              <a:rPr lang="en-US" sz="3200" dirty="0" smtClean="0"/>
              <a:t>Validation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700" dirty="0" smtClean="0"/>
              <a:t>Andhra Pradesh Market </a:t>
            </a:r>
            <a:r>
              <a:rPr lang="en-US" sz="2700" dirty="0" smtClean="0"/>
              <a:t>- </a:t>
            </a:r>
            <a:r>
              <a:rPr lang="en-US" sz="2700" dirty="0" err="1" smtClean="0"/>
              <a:t>Palasa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90K</a:t>
            </a:r>
            <a:r>
              <a:rPr lang="en-US" sz="2700" dirty="0" smtClean="0"/>
              <a:t>+ Transactions </a:t>
            </a:r>
            <a:r>
              <a:rPr lang="en-US" sz="2700" dirty="0" smtClean="0"/>
              <a:t>Analysis </a:t>
            </a:r>
            <a:br>
              <a:rPr lang="en-US" sz="2700" dirty="0" smtClean="0"/>
            </a:br>
            <a:r>
              <a:rPr lang="en-US" sz="2700" dirty="0" smtClean="0"/>
              <a:t>Business </a:t>
            </a:r>
            <a:r>
              <a:rPr lang="en-US" sz="2700" dirty="0" smtClean="0"/>
              <a:t>Intelligence Project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 overall FMCG sales </a:t>
            </a:r>
            <a:r>
              <a:rPr lang="en-US" dirty="0" smtClean="0"/>
              <a:t>performance</a:t>
            </a:r>
          </a:p>
          <a:p>
            <a:r>
              <a:rPr lang="en-US" dirty="0" smtClean="0"/>
              <a:t>Identify </a:t>
            </a:r>
            <a:r>
              <a:rPr lang="en-US" dirty="0" smtClean="0"/>
              <a:t>revenue drivers &amp; customer </a:t>
            </a:r>
            <a:r>
              <a:rPr lang="en-US" dirty="0" smtClean="0"/>
              <a:t>segments</a:t>
            </a:r>
          </a:p>
          <a:p>
            <a:r>
              <a:rPr lang="en-US" dirty="0" smtClean="0"/>
              <a:t>Evaluate </a:t>
            </a:r>
            <a:r>
              <a:rPr lang="en-US" dirty="0" smtClean="0"/>
              <a:t>retention and seasonality </a:t>
            </a:r>
            <a:endParaRPr lang="en-US" dirty="0" smtClean="0"/>
          </a:p>
          <a:p>
            <a:r>
              <a:rPr lang="en-US" dirty="0" smtClean="0"/>
              <a:t>Provide actionable </a:t>
            </a:r>
            <a:r>
              <a:rPr lang="en-US" dirty="0" smtClean="0"/>
              <a:t>business </a:t>
            </a:r>
            <a:r>
              <a:rPr lang="en-US" dirty="0" smtClean="0"/>
              <a:t>recommendations</a:t>
            </a:r>
          </a:p>
          <a:p>
            <a:r>
              <a:rPr lang="en-US" dirty="0" smtClean="0"/>
              <a:t>Validate </a:t>
            </a:r>
            <a:r>
              <a:rPr lang="en-US" dirty="0" smtClean="0"/>
              <a:t>insights using statistical testing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90,866 invoice records </a:t>
            </a:r>
            <a:endParaRPr lang="en-US" dirty="0" smtClean="0"/>
          </a:p>
          <a:p>
            <a:r>
              <a:rPr lang="en-US" dirty="0" smtClean="0"/>
              <a:t>₹</a:t>
            </a:r>
            <a:r>
              <a:rPr lang="en-US" dirty="0" smtClean="0"/>
              <a:t>9.54 </a:t>
            </a:r>
            <a:r>
              <a:rPr lang="en-US" dirty="0" err="1" smtClean="0"/>
              <a:t>Crore</a:t>
            </a:r>
            <a:r>
              <a:rPr lang="en-US" dirty="0" smtClean="0"/>
              <a:t> total revenue </a:t>
            </a:r>
            <a:endParaRPr lang="en-US" dirty="0" smtClean="0"/>
          </a:p>
          <a:p>
            <a:r>
              <a:rPr lang="en-US" dirty="0" smtClean="0"/>
              <a:t>1,219 </a:t>
            </a:r>
            <a:r>
              <a:rPr lang="en-US" dirty="0" smtClean="0"/>
              <a:t>active customers </a:t>
            </a:r>
            <a:endParaRPr lang="en-US" dirty="0" smtClean="0"/>
          </a:p>
          <a:p>
            <a:r>
              <a:rPr lang="en-US" dirty="0" smtClean="0"/>
              <a:t>19 </a:t>
            </a:r>
            <a:r>
              <a:rPr lang="en-US" dirty="0" smtClean="0"/>
              <a:t>product categories </a:t>
            </a:r>
            <a:endParaRPr lang="en-US" dirty="0" smtClean="0"/>
          </a:p>
          <a:p>
            <a:r>
              <a:rPr lang="en-US" dirty="0" smtClean="0"/>
              <a:t>Time </a:t>
            </a:r>
            <a:r>
              <a:rPr lang="en-US" dirty="0" smtClean="0"/>
              <a:t>period: Jan–Dec 2025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Cigarettes contribute ~36–37% revenue </a:t>
            </a:r>
            <a:endParaRPr lang="en-US" dirty="0" smtClean="0"/>
          </a:p>
          <a:p>
            <a:r>
              <a:rPr lang="en-US" dirty="0" smtClean="0"/>
              <a:t>Top </a:t>
            </a:r>
            <a:r>
              <a:rPr lang="en-US" dirty="0" smtClean="0"/>
              <a:t>3 categories = ~75% of total </a:t>
            </a:r>
            <a:r>
              <a:rPr lang="en-US" dirty="0" smtClean="0"/>
              <a:t>revenue</a:t>
            </a:r>
          </a:p>
          <a:p>
            <a:r>
              <a:rPr lang="en-US" dirty="0" smtClean="0"/>
              <a:t>December</a:t>
            </a:r>
            <a:r>
              <a:rPr lang="en-US" dirty="0" smtClean="0"/>
              <a:t>: Highest revenue (~₹1.2 Cr) </a:t>
            </a:r>
            <a:endParaRPr lang="en-US" dirty="0" smtClean="0"/>
          </a:p>
          <a:p>
            <a:r>
              <a:rPr lang="en-US" dirty="0" smtClean="0"/>
              <a:t>March</a:t>
            </a:r>
            <a:r>
              <a:rPr lang="en-US" dirty="0" smtClean="0"/>
              <a:t>: Lowest revenue (~₹55L) </a:t>
            </a:r>
            <a:endParaRPr lang="en-US" dirty="0" smtClean="0"/>
          </a:p>
          <a:p>
            <a:r>
              <a:rPr lang="en-US" dirty="0" smtClean="0"/>
              <a:t>Strong </a:t>
            </a:r>
            <a:r>
              <a:rPr lang="en-US" dirty="0" smtClean="0"/>
              <a:t>H2 growth trend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278 Champion customers (Top </a:t>
            </a:r>
            <a:r>
              <a:rPr lang="en-US" dirty="0" smtClean="0"/>
              <a:t>segment)</a:t>
            </a:r>
          </a:p>
          <a:p>
            <a:r>
              <a:rPr lang="en-US" dirty="0" smtClean="0"/>
              <a:t>Contribute </a:t>
            </a:r>
            <a:r>
              <a:rPr lang="en-US" dirty="0" smtClean="0"/>
              <a:t>majority of revenue </a:t>
            </a:r>
            <a:endParaRPr lang="en-US" dirty="0" smtClean="0"/>
          </a:p>
          <a:p>
            <a:r>
              <a:rPr lang="en-US" dirty="0" smtClean="0"/>
              <a:t>High-value </a:t>
            </a:r>
            <a:r>
              <a:rPr lang="en-US" dirty="0" smtClean="0"/>
              <a:t>customers show: </a:t>
            </a: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High </a:t>
            </a:r>
            <a:r>
              <a:rPr lang="en-US" dirty="0" smtClean="0"/>
              <a:t>frequency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High spend </a:t>
            </a:r>
          </a:p>
          <a:p>
            <a:r>
              <a:rPr lang="en-US" dirty="0" smtClean="0"/>
              <a:t>Risk: Over-dependence on few customers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Retention Analysis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January </a:t>
            </a:r>
            <a:r>
              <a:rPr lang="en-US" dirty="0" smtClean="0"/>
              <a:t>cohort: </a:t>
            </a:r>
          </a:p>
          <a:p>
            <a:pPr lvl="1"/>
            <a:r>
              <a:rPr lang="en-US" dirty="0" smtClean="0"/>
              <a:t>~88% Month-1 retention </a:t>
            </a:r>
          </a:p>
          <a:p>
            <a:pPr lvl="1"/>
            <a:r>
              <a:rPr lang="en-US" dirty="0" smtClean="0"/>
              <a:t>Strong long-term engagement </a:t>
            </a:r>
          </a:p>
          <a:p>
            <a:r>
              <a:rPr lang="en-US" dirty="0" smtClean="0"/>
              <a:t>June cohort: </a:t>
            </a:r>
          </a:p>
          <a:p>
            <a:pPr lvl="1"/>
            <a:r>
              <a:rPr lang="en-US" dirty="0" smtClean="0"/>
              <a:t>Exceptional retention (up to 96%) </a:t>
            </a:r>
          </a:p>
          <a:p>
            <a:r>
              <a:rPr lang="en-US" dirty="0" smtClean="0"/>
              <a:t>March &amp; May cohorts: </a:t>
            </a:r>
          </a:p>
          <a:p>
            <a:pPr lvl="1"/>
            <a:r>
              <a:rPr lang="en-US" dirty="0" smtClean="0"/>
              <a:t>Very low retention (~28%)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Key Problems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Category concentration risk </a:t>
            </a:r>
          </a:p>
          <a:p>
            <a:r>
              <a:rPr lang="en-US" dirty="0" smtClean="0"/>
              <a:t>Customer </a:t>
            </a:r>
            <a:r>
              <a:rPr lang="en-US" dirty="0" smtClean="0"/>
              <a:t>dependency risk </a:t>
            </a:r>
          </a:p>
          <a:p>
            <a:r>
              <a:rPr lang="en-US" dirty="0" smtClean="0"/>
              <a:t>Seasonal </a:t>
            </a:r>
            <a:r>
              <a:rPr lang="en-US" dirty="0" smtClean="0"/>
              <a:t>revenue fluctuations </a:t>
            </a:r>
          </a:p>
          <a:p>
            <a:r>
              <a:rPr lang="en-US" dirty="0" smtClean="0"/>
              <a:t>Weak </a:t>
            </a:r>
            <a:r>
              <a:rPr lang="en-US" dirty="0" smtClean="0"/>
              <a:t>retention in some cohorts </a:t>
            </a:r>
          </a:p>
          <a:p>
            <a:r>
              <a:rPr lang="en-US" dirty="0" smtClean="0"/>
              <a:t>Underutilized </a:t>
            </a:r>
            <a:r>
              <a:rPr lang="en-US" dirty="0" smtClean="0"/>
              <a:t>discount strategy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Insights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Revenue </a:t>
            </a:r>
            <a:r>
              <a:rPr lang="en-US" dirty="0" smtClean="0"/>
              <a:t>is not diversified </a:t>
            </a:r>
          </a:p>
          <a:p>
            <a:r>
              <a:rPr lang="en-US" dirty="0" smtClean="0"/>
              <a:t>Top customers dominate sales </a:t>
            </a:r>
          </a:p>
          <a:p>
            <a:r>
              <a:rPr lang="en-US" dirty="0" smtClean="0"/>
              <a:t>Retention depends on acquisition quality </a:t>
            </a:r>
          </a:p>
          <a:p>
            <a:r>
              <a:rPr lang="en-US" dirty="0" smtClean="0"/>
              <a:t>Seasonality is predictable </a:t>
            </a:r>
          </a:p>
          <a:p>
            <a:r>
              <a:rPr lang="en-US" dirty="0" smtClean="0"/>
              <a:t>Pricing strategy is conservative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Recommendations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Customer </a:t>
            </a:r>
            <a:r>
              <a:rPr lang="en-US" b="1" dirty="0" smtClean="0"/>
              <a:t>Strategy</a:t>
            </a:r>
            <a:endParaRPr lang="en-US" dirty="0" smtClean="0"/>
          </a:p>
          <a:p>
            <a:r>
              <a:rPr lang="en-US" dirty="0" smtClean="0"/>
              <a:t>Loyalty programs for top customers </a:t>
            </a:r>
          </a:p>
          <a:p>
            <a:r>
              <a:rPr lang="en-US" dirty="0" smtClean="0"/>
              <a:t>Dedicated account managers </a:t>
            </a:r>
          </a:p>
          <a:p>
            <a:r>
              <a:rPr lang="en-US" b="1" dirty="0" smtClean="0"/>
              <a:t>Growth Strategy</a:t>
            </a:r>
            <a:endParaRPr lang="en-US" dirty="0" smtClean="0"/>
          </a:p>
          <a:p>
            <a:r>
              <a:rPr lang="en-US" dirty="0" smtClean="0"/>
              <a:t>Expand non-cigarette categories </a:t>
            </a:r>
          </a:p>
          <a:p>
            <a:r>
              <a:rPr lang="en-US" dirty="0" smtClean="0"/>
              <a:t>Cross-sell &amp; bundle products </a:t>
            </a:r>
          </a:p>
          <a:p>
            <a:r>
              <a:rPr lang="en-US" b="1" dirty="0" smtClean="0"/>
              <a:t>Retention Strategy</a:t>
            </a:r>
            <a:endParaRPr lang="en-US" dirty="0" smtClean="0"/>
          </a:p>
          <a:p>
            <a:r>
              <a:rPr lang="en-US" dirty="0" smtClean="0"/>
              <a:t>Win-back campaigns </a:t>
            </a:r>
          </a:p>
          <a:p>
            <a:r>
              <a:rPr lang="en-US" dirty="0" smtClean="0"/>
              <a:t>Personalized offers </a:t>
            </a:r>
          </a:p>
          <a:p>
            <a:r>
              <a:rPr lang="en-US" b="1" dirty="0" smtClean="0"/>
              <a:t>Pricing Strategy</a:t>
            </a:r>
            <a:endParaRPr lang="en-US" dirty="0" smtClean="0"/>
          </a:p>
          <a:p>
            <a:r>
              <a:rPr lang="en-US" dirty="0" smtClean="0"/>
              <a:t>Introduce targeted discounts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Hypothesis Testing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High-frequency </a:t>
            </a:r>
            <a:r>
              <a:rPr lang="en-US" dirty="0" smtClean="0"/>
              <a:t>customers spend more ✅ </a:t>
            </a:r>
          </a:p>
          <a:p>
            <a:r>
              <a:rPr lang="en-US" dirty="0" smtClean="0"/>
              <a:t>Credit customers generate higher revenue ✅ </a:t>
            </a:r>
          </a:p>
          <a:p>
            <a:r>
              <a:rPr lang="en-US" dirty="0" smtClean="0"/>
              <a:t>Revenue varies significantly across months ✅ </a:t>
            </a:r>
          </a:p>
          <a:p>
            <a:r>
              <a:rPr lang="en-US" dirty="0" smtClean="0"/>
              <a:t>(All results statistically significant, p &lt; 0.05)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Conclusion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Strong </a:t>
            </a:r>
            <a:r>
              <a:rPr lang="en-US" dirty="0" smtClean="0"/>
              <a:t>revenue performance </a:t>
            </a:r>
          </a:p>
          <a:p>
            <a:r>
              <a:rPr lang="en-US" dirty="0" smtClean="0"/>
              <a:t>High dependency risks exist </a:t>
            </a:r>
          </a:p>
          <a:p>
            <a:r>
              <a:rPr lang="en-US" dirty="0" smtClean="0"/>
              <a:t>Clear seasonal trends </a:t>
            </a:r>
          </a:p>
          <a:p>
            <a:r>
              <a:rPr lang="en-US" dirty="0" smtClean="0"/>
              <a:t>Customer segmentation provides growth opportunities </a:t>
            </a:r>
          </a:p>
          <a:p>
            <a:r>
              <a:rPr lang="en-US" dirty="0" smtClean="0"/>
              <a:t>Business is scalable with strategy improvements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Call to Action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Focus </a:t>
            </a:r>
            <a:r>
              <a:rPr lang="en-US" b="1" dirty="0" smtClean="0"/>
              <a:t>Areas:</a:t>
            </a:r>
            <a:endParaRPr lang="en-US" dirty="0" smtClean="0"/>
          </a:p>
          <a:p>
            <a:r>
              <a:rPr lang="en-US" dirty="0" smtClean="0"/>
              <a:t>Retain top customers </a:t>
            </a:r>
          </a:p>
          <a:p>
            <a:r>
              <a:rPr lang="en-US" dirty="0" smtClean="0"/>
              <a:t>Diversify revenue streams </a:t>
            </a:r>
          </a:p>
          <a:p>
            <a:r>
              <a:rPr lang="en-US" dirty="0" smtClean="0"/>
              <a:t>Use data-driven pricing </a:t>
            </a:r>
          </a:p>
          <a:p>
            <a:r>
              <a:rPr lang="en-US" dirty="0" smtClean="0"/>
              <a:t>Plan for seasonal demand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FMCG Sales Analysis 2025 Data Storytelling &amp; Statistical Validation  Andhra Pradesh Market - Palasa 90K+ Transactions Analysis  Business Intelligence Project</vt:lpstr>
      <vt:lpstr>Objective</vt:lpstr>
      <vt:lpstr>Dataset Overview</vt:lpstr>
      <vt:lpstr>Revenue Overview</vt:lpstr>
      <vt:lpstr>Customer Analysis</vt:lpstr>
      <vt:lpstr>Retention Analysis </vt:lpstr>
      <vt:lpstr>Key Problems </vt:lpstr>
      <vt:lpstr>Insights </vt:lpstr>
      <vt:lpstr>Recommendations </vt:lpstr>
      <vt:lpstr>Hypothesis Testing </vt:lpstr>
      <vt:lpstr>Conclusion </vt:lpstr>
      <vt:lpstr>Call to Action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Sales Analysis 2025 Data Storytelling &amp; Statistical Validation  Andhra Pradesh Market - Palasa 90K+ Transactions Analysis  Business Intelligence Project</dc:title>
  <dc:creator/>
  <cp:lastModifiedBy>ajayk</cp:lastModifiedBy>
  <cp:revision>2</cp:revision>
  <dcterms:created xsi:type="dcterms:W3CDTF">2006-08-16T00:00:00Z</dcterms:created>
  <dcterms:modified xsi:type="dcterms:W3CDTF">2026-03-27T07:26:47Z</dcterms:modified>
</cp:coreProperties>
</file>